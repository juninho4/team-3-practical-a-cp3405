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a0bba56ae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a0bba56a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9020487f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9020487f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c988a8b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c988a8b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c988a8b9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c988a8b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c90a43b2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c90a43b2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a083380e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a083380e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Week 2, I analysed the S&amp;P 500, Nasdaq 100, and Russell 2000 using the 8-day and 21-day exponential moving averages.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three markets are trading above both EMA lines, and the EMA 8 is above the EMA 21. This indicates positive short-term momentum.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Nasdaq 100 shows the strongest bullish momentum, followed by the S&amp;P 500. The Russell 2000 is also bullish, but it is slightly weaker and has shown a small pullback near resistance.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Overall, the technical market bias is bullish. However, because the markets are close to resistance after a strong rise, a short-term pullback or consolidation is possible.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c988a8b9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c988a8b9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a0bba56ae_7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a0bba56ae_7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a0bba56ae_7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a0bba56ae_7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c90a43b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c90a43b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c90a43b2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c90a43b2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c988a8b9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c988a8b9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852d3e6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852d3e6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cfdd1260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cfdd1260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.jpg"/><Relationship Id="rId5" Type="http://schemas.openxmlformats.org/officeDocument/2006/relationships/image" Target="../media/image1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16301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Stock Market Predictions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214300" y="3531750"/>
            <a:ext cx="4715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3 Practical 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7992600" y="4350900"/>
            <a:ext cx="11514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977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Goal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1496100" y="1503750"/>
            <a:ext cx="6151800" cy="24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Evaluate Week 22 prediction accuracy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Collect market evidence and perform analysis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Compare outputs from multiple AI models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Produce and document the market prediction.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Identify strengths and weaknesses in our forecasting process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2214300" y="4186775"/>
            <a:ext cx="4715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Applying Scrum Techniques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7992600" y="4350900"/>
            <a:ext cx="11514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2977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Done</a:t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1670825"/>
            <a:ext cx="3987300" cy="19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Market evidence collected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Agent Analyses completed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Four AI model outputs generated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Human review conducted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4845000" y="1670813"/>
            <a:ext cx="3987300" cy="19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Final prediction documented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Previous prediction evaluated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Github repository updated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11700" y="41108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M̶a̶x̶i̶m̶i̶z̶i̶n̶g̶ ̶p̶r̶e̶d̶i̶c̶t̶i̶o̶n̶ ̶a̶c̶c̶u̶r̶a̶c̶y̶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2603" y="0"/>
            <a:ext cx="51113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367775" y="2781600"/>
            <a:ext cx="25635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Risk and fear increase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802850" y="4111250"/>
            <a:ext cx="2093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200">
                <a:solidFill>
                  <a:schemeClr val="dk1"/>
                </a:solidFill>
              </a:rPr>
              <a:t>R8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67775" y="1064750"/>
            <a:ext cx="543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 trend is downward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67775" y="1923175"/>
            <a:ext cx="323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Almost targets are in decline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87" name="Google Shape;87;p17"/>
          <p:cNvSpPr txBox="1"/>
          <p:nvPr>
            <p:ph idx="1" type="subTitle"/>
          </p:nvPr>
        </p:nvSpPr>
        <p:spPr>
          <a:xfrm>
            <a:off x="311700" y="2834125"/>
            <a:ext cx="8520600" cy="21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Week 1 established that 2026 is a Midterm Election Year.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Week 2 showed early weakness in May.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Week 3 showed even stronger bearish signals in June.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seasonal trend is becoming increasingly bearish from Week 1 to Week 3.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R4 Macro Picture this Week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Current Fed Rate: 3.50% - 3.75%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Fedwatch Probability: Hold: 99.65%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10-year yield-level: 4.45%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Oil direction: Rising, +3.35%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important event this week: US ready to restart strikes on Iran if no deal is made.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peace deal means Strait of Hormuz remains closed, oil prices may continue rising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Macro Bias: Dovish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R5 Technical Agent 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Analysis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SP</a:t>
            </a:r>
            <a:r>
              <a:rPr lang="en"/>
              <a:t>Y: Bullish; support around 748 / 737, resistance near 756–760. </a:t>
            </a:r>
            <a:endParaRPr/>
          </a:p>
          <a:p>
            <a:pPr indent="-31083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NDX: Strongest chart; price is far above both EMAs, next resistance around 30,500–31,000.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IWM: Bullish but weaker; small pullback near 290–292 resistance, support around 287 / 282.</a:t>
            </a:r>
            <a:endParaRPr/>
          </a:p>
          <a:p>
            <a:pPr indent="-31083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Heatmap: Mixed breadth; some tech/software strength, but several mega-cap names were red.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Overall bias: Bullish, but watch short-term pullback risk near resistance.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 title="spy_ema_dail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2925" y="0"/>
            <a:ext cx="3681074" cy="1678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ndx_ema_dail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2925" y="1729750"/>
            <a:ext cx="3681074" cy="1678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50200" y="3459506"/>
            <a:ext cx="3706515" cy="167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ctrTitle"/>
          </p:nvPr>
        </p:nvSpPr>
        <p:spPr>
          <a:xfrm>
            <a:off x="0" y="0"/>
            <a:ext cx="10083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R6</a:t>
            </a:r>
            <a:endParaRPr/>
          </a:p>
        </p:txBody>
      </p:sp>
      <p:pic>
        <p:nvPicPr>
          <p:cNvPr id="108" name="Google Shape;108;p20" title="屏幕截图 2026-06-07 2327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700" y="152400"/>
            <a:ext cx="3828700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屏幕截图 2026-06-07 2328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1800" y="152400"/>
            <a:ext cx="295572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 title="屏幕截图 2026-06-07 2328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26254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 title="屏幕截图 2026-06-07 2329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7340" y="152400"/>
            <a:ext cx="1935480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 title="屏幕截图 2026-06-07 23313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5220" y="152400"/>
            <a:ext cx="396482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" title="屏幕截图 2026-06-07 2331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028270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 title="屏幕截图 2026-06-07 2332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3070" y="152400"/>
            <a:ext cx="1886936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 title="屏幕截图 2026-06-07 23322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2406" y="152400"/>
            <a:ext cx="266218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286000" y="280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/>
              <a:t>R7 Human Score Analyst Evaluation </a:t>
            </a:r>
            <a:r>
              <a:rPr b="1" lang="en" sz="2650"/>
              <a:t> </a:t>
            </a:r>
            <a:r>
              <a:rPr lang="en" sz="2650"/>
              <a:t> </a:t>
            </a:r>
            <a:endParaRPr sz="2650"/>
          </a:p>
        </p:txBody>
      </p:sp>
      <p:sp>
        <p:nvSpPr>
          <p:cNvPr id="129" name="Google Shape;129;p23"/>
          <p:cNvSpPr txBox="1"/>
          <p:nvPr/>
        </p:nvSpPr>
        <p:spPr>
          <a:xfrm>
            <a:off x="5143475" y="1701850"/>
            <a:ext cx="41406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R7 Human Evaluation 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Macro / News:</a:t>
            </a:r>
            <a:r>
              <a:rPr lang="en" sz="1300">
                <a:solidFill>
                  <a:schemeClr val="dk1"/>
                </a:solidFill>
              </a:rPr>
              <a:t> +1 (Slightly Bullish)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Technical Structure:</a:t>
            </a:r>
            <a:r>
              <a:rPr lang="en" sz="1300">
                <a:solidFill>
                  <a:schemeClr val="dk1"/>
                </a:solidFill>
              </a:rPr>
              <a:t> +2 (Strongly Bullish)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Almanac Seasonality:</a:t>
            </a:r>
            <a:r>
              <a:rPr lang="en" sz="1300">
                <a:solidFill>
                  <a:schemeClr val="dk1"/>
                </a:solidFill>
              </a:rPr>
              <a:t> -1 (Slightly Bearish)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AI Agreement Quality:</a:t>
            </a:r>
            <a:r>
              <a:rPr lang="en" sz="1300">
                <a:solidFill>
                  <a:schemeClr val="dk1"/>
                </a:solidFill>
              </a:rPr>
              <a:t> +1 (Logical Consensus)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Human Wild Card:</a:t>
            </a:r>
            <a:r>
              <a:rPr lang="en" sz="1300">
                <a:solidFill>
                  <a:schemeClr val="dk1"/>
                </a:solidFill>
              </a:rPr>
              <a:t> -1 (Liquidity Risk)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Final Human Score:</a:t>
            </a:r>
            <a:r>
              <a:rPr lang="en" sz="1300">
                <a:solidFill>
                  <a:schemeClr val="dk1"/>
                </a:solidFill>
              </a:rPr>
              <a:t> </a:t>
            </a:r>
            <a:r>
              <a:rPr b="1" lang="en" sz="1300">
                <a:solidFill>
                  <a:schemeClr val="dk1"/>
                </a:solidFill>
              </a:rPr>
              <a:t>+2 (Neutral-Bullish)</a:t>
            </a:r>
            <a:endParaRPr sz="1600"/>
          </a:p>
        </p:txBody>
      </p:sp>
      <p:sp>
        <p:nvSpPr>
          <p:cNvPr id="130" name="Google Shape;130;p23"/>
          <p:cNvSpPr txBox="1"/>
          <p:nvPr/>
        </p:nvSpPr>
        <p:spPr>
          <a:xfrm>
            <a:off x="445450" y="1478650"/>
            <a:ext cx="474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Fragile Support:</a:t>
            </a:r>
            <a:r>
              <a:rPr lang="en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In a low-liquidity environment, technical supports are highly fragile. A single geopolitical headline (e.g., Iran escalation) can trigger an algorithmic flush.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Actionable Recommendation:</a:t>
            </a:r>
            <a:r>
              <a:rPr lang="en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We maintain a </a:t>
            </a:r>
            <a:r>
              <a:rPr b="1" lang="en" sz="1300">
                <a:solidFill>
                  <a:schemeClr val="dk1"/>
                </a:solidFill>
              </a:rPr>
              <a:t>Neutral-Bullish</a:t>
            </a:r>
            <a:r>
              <a:rPr lang="en" sz="1300">
                <a:solidFill>
                  <a:schemeClr val="dk1"/>
                </a:solidFill>
              </a:rPr>
              <a:t> stance but mandate a much tighter stop-loss strategy than the AI suggests. We must be prepared for a low-volume technical trap.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115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R9 GitHub &amp; Release Management</a:t>
            </a:r>
            <a:endParaRPr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5117450" y="1152475"/>
            <a:ext cx="371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GitHub Repository Check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README.md updated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evidence/WXX folder uploaded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Screenshots and raw evidence committed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Agent outputs and final prediction committed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PowerPoint file added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Release tag vWXX prepared / published</a:t>
            </a:r>
            <a:endParaRPr/>
          </a:p>
        </p:txBody>
      </p:sp>
      <p:pic>
        <p:nvPicPr>
          <p:cNvPr id="137" name="Google Shape;137;p24" title="屏幕截图 2026-06-01 1521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275" y="2785500"/>
            <a:ext cx="4237124" cy="202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 title="屏幕截图 2026-06-01 1532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273" y="1152475"/>
            <a:ext cx="4295975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298"/>
              <a:buFont typeface="Arial"/>
              <a:buNone/>
            </a:pPr>
            <a:r>
              <a:rPr b="1" lang="en" sz="2872">
                <a:solidFill>
                  <a:srgbClr val="0F1F3D"/>
                </a:solidFill>
                <a:highlight>
                  <a:srgbClr val="F9F6F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Learning Log Entry</a:t>
            </a:r>
            <a:endParaRPr b="1" sz="2872">
              <a:solidFill>
                <a:srgbClr val="0F1F3D"/>
              </a:solidFill>
              <a:highlight>
                <a:srgbClr val="F9F6F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u="sng"/>
              <a:t>Low liquidity + waiting for data = EMA support is fragile</a:t>
            </a:r>
            <a:endParaRPr b="1" u="sng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5"/>
          <p:cNvSpPr txBox="1"/>
          <p:nvPr>
            <p:ph idx="2" type="body"/>
          </p:nvPr>
        </p:nvSpPr>
        <p:spPr>
          <a:xfrm>
            <a:off x="4832400" y="1152475"/>
            <a:ext cx="3999900" cy="34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A summary in one sentence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200"/>
              <a:t>Technically bullish, but liquidity risks are collectively underestimated by AI — the core value of human judgment lies in identifying 'technical trap' environments.</a:t>
            </a:r>
            <a:endParaRPr b="1" sz="2200"/>
          </a:p>
        </p:txBody>
      </p:sp>
      <p:pic>
        <p:nvPicPr>
          <p:cNvPr id="146" name="Google Shape;146;p25" title="截屏2026-06-08 10.30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175" y="1971449"/>
            <a:ext cx="4070948" cy="1200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 title="NPsCQwsNqZDqwyGP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2799" y="3342425"/>
            <a:ext cx="2701624" cy="180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 title="9413A509CD0182F272BD112A4AB5856C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64563" y="0"/>
            <a:ext cx="979437" cy="12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R2: Scrum Master</a:t>
            </a:r>
            <a:endParaRPr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Retrospective Summary 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positive 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R8, R4, R6, and R7 completed their work on time.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helped keep the project moving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weaknesses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R5, R10, and R2 were delayed, causing extra work for others.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main issue was role assignments are not enough. &gt;&gt;&gt;&gt; stronger accountability and better communication.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Next sprint: earlier updates, clear deadlines, and better follow-up.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R2: Scrum Master</a:t>
            </a:r>
            <a:endParaRPr/>
          </a:p>
        </p:txBody>
      </p:sp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394875" y="1152475"/>
            <a:ext cx="3483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Standup Summary (W23)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Progress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R8 (market data &amp; evidence) and R4(Macro &amp; News analysis) completed work early.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R3(Almanac analysis), R6 and R7(synthesis &amp; final judgement tasks)  completed their tasks.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Blockers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R5, R10, and R2 were delayed.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short sprint increased pressure.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1" name="Google Shape;161;p27"/>
          <p:cNvSpPr txBox="1"/>
          <p:nvPr/>
        </p:nvSpPr>
        <p:spPr>
          <a:xfrm>
            <a:off x="4353750" y="1528875"/>
            <a:ext cx="3898200" cy="3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Actions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Follow up missing work.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Keep the sprint moving.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Key Learning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Better communication.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Earlier progress checks.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Stronger role accountability.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