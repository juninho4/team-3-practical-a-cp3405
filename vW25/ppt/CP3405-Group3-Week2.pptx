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0bba56a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0bba56a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e32be03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e32be03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21a569f0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21a569f0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c988a8b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c988a8b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c90a43b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c90a43b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106501c0f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106501c0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120f9dc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2120f9dc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988a8b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c988a8b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90a43b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c90a43b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106501c0f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106501c0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90a43b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c90a43b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120f9dc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2120f9dc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juninho4/Team-3-Practical-A-CP3405/blob/main/vW25/evidence/R3%20Almanac%20System.ipynb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630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Stock Market Predictions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5 - W25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14300" y="3531750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3 Practical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089750" y="1716400"/>
            <a:ext cx="6964500" cy="21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Automate parts of the forecasting overflow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Measure Week 24 prediction accuracy using Delta Engine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Compare multiple LLM forecasts systematically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Produce a sealed Week 25 market prediction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Improve the forecasting process through Scrum inspection and adaptation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-2224275" y="4159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2910250" y="4066900"/>
            <a:ext cx="21912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Tier 3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11628" r="13449" t="0"/>
          <a:stretch/>
        </p:blipFill>
        <p:spPr>
          <a:xfrm>
            <a:off x="3110800" y="398266"/>
            <a:ext cx="6033202" cy="474523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24700" y="734975"/>
            <a:ext cx="27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Rise to fall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Fear continues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3175"/>
            <a:ext cx="4194250" cy="249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3025" y="0"/>
            <a:ext cx="4430976" cy="263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0625" y="2707963"/>
            <a:ext cx="4633374" cy="238075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800975" y="627775"/>
            <a:ext cx="348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Automation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Weekly execution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4122483" y="-19782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145750" y="4086050"/>
            <a:ext cx="813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https://github.com/juninho4/Team-3-Practical-A-CP3405/blob/main/vW25/evidence/R3%20Almanac%20System.ipynb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865425" y="1701425"/>
            <a:ext cx="50601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August shows weaker seasonality.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The average return drops from +1.3% in July to only +0.02%.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The Midterm Election Year return becomes negative at -0.4%.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Therefore the outlook changes from Bullish to Slightly Bearish. 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The strongest opportunity appears in July, while August shows signs of weakening momentum.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Therefore the Almanac Agent recommends a cautious outlook after July. </a:t>
            </a:r>
            <a:endParaRPr b="1" sz="1100">
              <a:solidFill>
                <a:schemeClr val="dk2"/>
              </a:solidFill>
            </a:endParaRPr>
          </a:p>
        </p:txBody>
      </p:sp>
      <p:pic>
        <p:nvPicPr>
          <p:cNvPr id="86" name="Google Shape;86;p17" title="week5-august_vital_statis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50" y="256525"/>
            <a:ext cx="2922717" cy="3781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5" y="33162"/>
            <a:ext cx="8988648" cy="507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8" y="33299"/>
            <a:ext cx="9017627" cy="5076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286000" y="28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/>
              <a:t>R7</a:t>
            </a:r>
            <a:r>
              <a:rPr b="1" lang="en" sz="2650"/>
              <a:t> </a:t>
            </a:r>
            <a:r>
              <a:rPr lang="en" sz="2650"/>
              <a:t> </a:t>
            </a:r>
            <a:endParaRPr sz="2650"/>
          </a:p>
        </p:txBody>
      </p:sp>
      <p:sp>
        <p:nvSpPr>
          <p:cNvPr id="118" name="Google Shape;118;p22"/>
          <p:cNvSpPr txBox="1"/>
          <p:nvPr/>
        </p:nvSpPr>
        <p:spPr>
          <a:xfrm>
            <a:off x="798325" y="1151200"/>
            <a:ext cx="68607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Core Metric: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Total Human Score: -1 (Neutral / Uncertain Regime)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Pillars: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Technical Structure (+1):</a:t>
            </a:r>
            <a:r>
              <a:rPr lang="en" sz="1100">
                <a:solidFill>
                  <a:schemeClr val="dk1"/>
                </a:solidFill>
              </a:rPr>
              <a:t> Bullish price action and upward momentum across SPX and NDX provide a steady baseline floor.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Macro / News Weight (-1):</a:t>
            </a:r>
            <a:r>
              <a:rPr lang="en" sz="1100">
                <a:solidFill>
                  <a:schemeClr val="dk1"/>
                </a:solidFill>
              </a:rPr>
              <a:t> Hawkish macro conditions persist, actively capping upside breakout potential.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Almanac Seasonal Weight (-1):</a:t>
            </a:r>
            <a:r>
              <a:rPr lang="en" sz="1100">
                <a:solidFill>
                  <a:schemeClr val="dk1"/>
                </a:solidFill>
              </a:rPr>
              <a:t> Mixed transition phase as slight bearish August seasonal headwinds begin to emerge.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Agreement Quality (-1):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Data Corruption Penalty.</a:t>
            </a:r>
            <a:r>
              <a:rPr lang="en" sz="1100">
                <a:solidFill>
                  <a:schemeClr val="dk1"/>
                </a:solidFill>
              </a:rPr>
              <a:t> Gemini and DeepSeek outputs suffered extraction failures ("Not Found"). Blind reliance on R6's generic "Bullish" synthesis is mathematically unsafe.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Wild Card / Human Insight (+1):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Symmetry in Neutrality.</a:t>
            </a:r>
            <a:r>
              <a:rPr lang="en" sz="1100">
                <a:solidFill>
                  <a:schemeClr val="dk1"/>
                </a:solidFill>
              </a:rPr>
              <a:t> ChatGPT and Claude explicitly converged on a "Neutral" regime bracketed by near-identical downside floors (-0.5%) and upside caps (+1.0%).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R7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91650" y="1137025"/>
            <a:ext cx="6493200" cy="3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Strategic Position: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Active Directional Override (From Bullish to Neutral)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Relative Strength Ranking: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NDX &gt; SPX &gt; IWM (Weakest / Flat)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Final Predicted Weekly Ranges (Human Refinement):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SPX (S&amp;P 500):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-0.5% to +1.0%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(Perfect overlay of ChatGPT &amp; Claude brackets)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NDX (Nasdaq 100):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-0.3% to +1.5%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(Tech-driven resilience, but capped by macro)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IWM (Russell 2000):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-1.0% to +1.0%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(Neutral/Flat; small caps paralyzed by hawkish rates)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Critical Invalidation Conditions: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Upside Invalidation:</a:t>
            </a:r>
            <a:r>
              <a:rPr lang="en" sz="1100">
                <a:solidFill>
                  <a:schemeClr val="dk1"/>
                </a:solidFill>
              </a:rPr>
              <a:t> Major macro cooling or dovish central bank commentary driving SPX past +1.0%.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Downside Invalidation:</a:t>
            </a:r>
            <a:r>
              <a:rPr lang="en" sz="1100">
                <a:solidFill>
                  <a:schemeClr val="dk1"/>
                </a:solidFill>
              </a:rPr>
              <a:t> Broad technical breakdown below short-term support, pushing indices past the -0.5% boundary.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11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R9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658125" y="992250"/>
            <a:ext cx="3523500" cy="3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Responsibilities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Collected team members' work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Organised files and documents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Managed weekly deliverables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Prepared submission materials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4495500" y="992250"/>
            <a:ext cx="37968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Outcome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Improved file organisation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Ensured all work was included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Reduced version confusion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Supported team submission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1359000" y="516150"/>
            <a:ext cx="3213000" cy="4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Week 25 Progress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Week 25 Scrum Report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Role: R2 Scrum Master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Achievements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Team communicated through Discord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Clear role responsibilities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R3 completed August forecast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R8 uploaded data early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 tasks completed on time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Overall Status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Sprint completed successfully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Good teamwork and coordination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Blokers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R4 </a:t>
            </a:r>
            <a:r>
              <a:rPr lang="en" sz="1200">
                <a:solidFill>
                  <a:srgbClr val="1F2328"/>
                </a:solidFill>
                <a:highlight>
                  <a:srgbClr val="F6F8FA"/>
                </a:highlight>
              </a:rPr>
              <a:t>Not completed work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155675" y="454950"/>
            <a:ext cx="2700000" cy="4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Lessons &amp; Improvements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Lessons Learned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Clear communication is important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Early preparation improves efficiency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Regular updates help team coordination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Next Sprint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Continue early data uploads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R4 complete the unfinished work next week.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 GitHub organization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